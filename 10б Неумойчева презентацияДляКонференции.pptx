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4"/>
  </p:notesMasterIdLst>
  <p:sldIdLst>
    <p:sldId id="256" r:id="rId2"/>
    <p:sldId id="257" r:id="rId3"/>
    <p:sldId id="258" r:id="rId4"/>
    <p:sldId id="277" r:id="rId5"/>
    <p:sldId id="267" r:id="rId6"/>
    <p:sldId id="270" r:id="rId7"/>
    <p:sldId id="271" r:id="rId8"/>
    <p:sldId id="273" r:id="rId9"/>
    <p:sldId id="278" r:id="rId10"/>
    <p:sldId id="280" r:id="rId11"/>
    <p:sldId id="274" r:id="rId12"/>
    <p:sldId id="28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2" autoAdjust="0"/>
    <p:restoredTop sz="94657" autoAdjust="0"/>
  </p:normalViewPr>
  <p:slideViewPr>
    <p:cSldViewPr snapToGrid="0">
      <p:cViewPr varScale="1">
        <p:scale>
          <a:sx n="99" d="100"/>
          <a:sy n="99" d="100"/>
        </p:scale>
        <p:origin x="78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5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4EA5E-3614-436E-ABA9-277595CB7D7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C023F-399C-4CB5-B9AA-4EA5379D7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20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Актуальность: 23% жителей России (почти каждый четвертый) сосредоточено всего в 15 городах-миллионерах, и процент городского населения продолжает расти. Интенсивная застройка приводит к эффекту «теплового острова», когда температура в центре мегаполиса значительно превышает показатели окраин. Это усугубляет загрязнение воздуха и дискомфорт городской среды. Высокий темп жизни горожанина превращает поездку в парк, расположенный чуть боле чем в получасе от дома в мероприятие на выходные.</a:t>
            </a:r>
          </a:p>
          <a:p>
            <a:r>
              <a:rPr lang="ru-RU" dirty="0"/>
              <a:t>Создание парков на крышах является способом уменьшить влияние этих проблем. Растительность поглощает пыль и вредные газы, естественным образом охлаждает воздух и снижает нагрузку на ливневую канализацию. Таким образом, проект не просто возвращает городу утраченную зелень, а трансформирует его в устойчивую, здоровую экосистему.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C023F-399C-4CB5-B9AA-4EA5379D7D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33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Цель: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создать макет парка и разработать концепцию повсеместного создания парков на крышах многоэтажных зданий как способа повышения экологической устойчивости, качества жизни горожан и адаптации городской среды к климатическим изменениям.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Задачи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Изучить литературу и интернет-источники по данной теме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Выбрать и закупить материалы для изготовления макета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Создать макет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Разработать концепцию повсеместного создания парков на крышах многоэтажных зданий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C023F-399C-4CB5-B9AA-4EA5379D7D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45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Проблема: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проблема современных городов — дефицит зеленых зон из-за плотной застройки. Это приводит к ухудшению микроклимата, повышенной запыленности и шумовому загрязнению. Существующие дворы не компенсируют нехватку качественных рекреационных пространств, что негативно влияет на здоровье и комфорт жителей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C023F-399C-4CB5-B9AA-4EA5379D7D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82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BCD8C-1F12-3644-182E-EBD92EE85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D5920F-5263-1F59-9AE6-289F9C88E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13A6BB-43A2-5ED8-1F59-99E23303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1B7A87-B18A-D6B6-2D4F-AFD905D9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8A7C29-4483-D2A1-E887-4982DDD3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9058B-3966-3660-72BA-3D58074F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681143-0A61-ADE3-CDFF-C465163DE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0B620-C8B2-E1B4-B047-6EEE787A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0DF0C4-ED4F-0481-DC82-8C77F01D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A3D26C-686B-CD7D-1388-1DB2A536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3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E12E5-BA8C-5C9E-426E-09818BA2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7EDC93-3137-780C-0869-CC36AC42B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0FB7F2-A1C9-B352-25C7-7448EE43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83706-166C-03F3-B0A6-969BBDE6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EAAFFD-1508-CE57-DAAD-01DE910A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37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E32A9-5B2A-6ABD-851D-1CEA690B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486BD8-AE41-27A3-6960-FC0E31AF1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9EEFB7-CD16-6080-F367-ABBF7067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C4118D-9079-363A-AA45-B98B8E53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CF5800-3043-7D96-D114-FBF1623E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2C6226-AD53-3B7E-CA29-13CF2A42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5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7B522-BDFC-8417-B1C6-C217AD61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8AE44-C3A5-67C7-59CD-43BFF18EB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2229A3-EE68-BBFB-2F40-9E534D2B8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1D6552-0F93-6AFC-2D65-7D917EEC1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617526-BE41-5153-B36F-239271683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2E9341-F987-10F4-B778-865D919D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3FD80A5-DE95-DF8F-35AA-2AEA3BBC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FD621F-24BA-1841-A91E-60509A86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70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42972-BD82-CA57-80F9-DA49B1C0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3083A3-DF77-86D5-2FC1-AD3EE1A5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B431CE-DA0C-2A2F-7B0D-87CC52E2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B1E35C-0A27-9B56-6BC4-E7E61B94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29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E840E4-0444-1D73-E055-FEE1088E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78971D-4C81-9358-1140-E8C3EEFB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7857EC-08A4-8FC5-8933-36FEB544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6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B65B1-EA86-3BE9-7F78-7A23E89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A4B87D-1892-1C14-613B-38ECA2528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36E1BC-2304-F574-3A65-54F25A56A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B5436C-5577-4F06-28D2-BC1DF481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655D05-572B-7572-F563-082366C51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F671BF-4108-AE6D-AA42-7FC7D9A1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3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16630-DA0B-F360-045C-4A8058EF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A5A997-B80D-DD91-F5BD-44CC89B8A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605BDF-206D-02EB-E6A1-886E2D081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A5E398-FFDF-948B-6737-642B1334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76CCCC-58DB-B7DE-A556-30F058AA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B7FF36-AF75-37A8-1A21-781C4F6D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7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C90AA-FCDA-8254-BD5B-6F960563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F0B15F-8370-B316-8252-5B2EC53BF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298AD6-1240-77EF-804C-B20B1554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FF22E-640D-A29C-1012-A2BEF45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C87BE0-16A7-3406-725F-4A70AAF1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76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D1EBE83-F33A-C310-F591-A7B1E7767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216EF5-298C-6CE4-3686-1AFBB3086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A9ECD-253F-B80A-6357-9152F2DB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D3F14-FF78-454A-EA2D-B0E538BE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E6CDC0-E1C4-F373-95CA-BF2CFDDE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6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959B3-C42B-AA6F-F4BB-03837655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C8238D-7F5B-8861-2899-50D843FC2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2BFBEB-3AB3-BDCF-965B-8194B386A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4E30C-00DD-493D-A934-7A54E4C8FFA9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8E8EE-4E9A-713E-C3BC-3AC48D294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827441-EF3A-66F0-AABE-77AB09B14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612C-4F4A-42B3-9AFD-33A18268F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87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04455-4F1E-0E3B-ECC9-6280ABE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8932" y="1205450"/>
            <a:ext cx="7761468" cy="2341384"/>
          </a:xfrm>
        </p:spPr>
        <p:txBody>
          <a:bodyPr>
            <a:normAutofit/>
          </a:bodyPr>
          <a:lstStyle/>
          <a:p>
            <a:r>
              <a:rPr lang="ru-RU" sz="3200" kern="100" cap="all" dirty="0">
                <a:effectLst/>
                <a:latin typeface="+mn-lt"/>
                <a:ea typeface="Times New Roman" panose="02020603050405020304" pitchFamily="18" charset="0"/>
              </a:rPr>
              <a:t>Парк на крыше каждого многоэтажного здания</a:t>
            </a:r>
            <a:br>
              <a:rPr lang="ru-RU" sz="3200" b="1" kern="100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F0E07B-A028-4CCC-BF62-4FABB90813B1}"/>
              </a:ext>
            </a:extLst>
          </p:cNvPr>
          <p:cNvSpPr/>
          <p:nvPr/>
        </p:nvSpPr>
        <p:spPr>
          <a:xfrm>
            <a:off x="3909100" y="4538133"/>
            <a:ext cx="8181300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spcBef>
                <a:spcPts val="1000"/>
              </a:spcBef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Автор: ученица 10б класса </a:t>
            </a:r>
            <a:r>
              <a:rPr lang="ru-RU" sz="24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Неумойчева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Алина Дмитриевна</a:t>
            </a:r>
          </a:p>
          <a:p>
            <a:pPr lvl="0" algn="r">
              <a:spcBef>
                <a:spcPts val="1000"/>
              </a:spcBef>
            </a:pP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Руководитель: учитель истории и обществознания Комова Анастасия Анатольевна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2046B51-2E5D-4B14-B8A1-A3B1CE5B4C39}"/>
              </a:ext>
            </a:extLst>
          </p:cNvPr>
          <p:cNvSpPr/>
          <p:nvPr/>
        </p:nvSpPr>
        <p:spPr>
          <a:xfrm>
            <a:off x="4532985" y="214151"/>
            <a:ext cx="73533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ОБЩЕОБРАЗОВАТЕЛЬНОЕ УЧРЕЖДЕНИЕ ГОРОДА МОСКВЫ «ШКОЛА № 1905»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68472B-5390-4178-8FAF-3B9D823B6FC4}"/>
              </a:ext>
            </a:extLst>
          </p:cNvPr>
          <p:cNvSpPr/>
          <p:nvPr/>
        </p:nvSpPr>
        <p:spPr>
          <a:xfrm>
            <a:off x="4679245" y="594685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Москва,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2026г</a:t>
            </a: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CF1FF9-DCDE-4F73-B4D6-68973C37D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91" y="1"/>
            <a:ext cx="4324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85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06B68-BA0F-29A9-FBBC-FD911CE8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4194" y="0"/>
            <a:ext cx="3097171" cy="117483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Актуальность</a:t>
            </a:r>
            <a:endParaRPr lang="ru-RU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6381B-9B17-6EEC-A61F-59EC7B9E1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585" y="1073952"/>
            <a:ext cx="8092426" cy="25709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Загрязнение воздуха является одной из самых важных проблем мегаполисов, в которые переселяются всё больше людей. Парки зачастую далеко от застроек, поэтому зелёные крыши - это хорошее решение, которое требует продвижения в массы.</a:t>
            </a:r>
            <a:br>
              <a:rPr lang="ru-RU" sz="2400" dirty="0"/>
            </a:br>
            <a:endParaRPr lang="ru-RU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55B63A-2EDA-4EDF-9380-A421D8F9D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483"/>
            <a:ext cx="3971365" cy="685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AEA3126-FEE8-F289-C07D-B2733C9F0D5C}"/>
              </a:ext>
            </a:extLst>
          </p:cNvPr>
          <p:cNvSpPr txBox="1">
            <a:spLocks/>
          </p:cNvSpPr>
          <p:nvPr/>
        </p:nvSpPr>
        <p:spPr>
          <a:xfrm>
            <a:off x="6415240" y="3208358"/>
            <a:ext cx="3097171" cy="1174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Проблема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F78ACC-7448-FDA4-CA54-9D2344D16C80}"/>
              </a:ext>
            </a:extLst>
          </p:cNvPr>
          <p:cNvSpPr txBox="1">
            <a:spLocks/>
          </p:cNvSpPr>
          <p:nvPr/>
        </p:nvSpPr>
        <p:spPr>
          <a:xfrm>
            <a:off x="4096585" y="3946645"/>
            <a:ext cx="7992387" cy="2269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br>
              <a:rPr lang="ru-RU" dirty="0"/>
            </a:br>
            <a:r>
              <a:rPr lang="ru-RU" sz="2400" dirty="0"/>
              <a:t>Ухудшение экологической обстановки в мегаполисах: повышенная запыленность (частицы </a:t>
            </a:r>
            <a:r>
              <a:rPr lang="en-US" sz="2400" dirty="0"/>
              <a:t>pm2.5)</a:t>
            </a:r>
            <a:r>
              <a:rPr lang="ru-RU" sz="2400" dirty="0"/>
              <a:t>, шумовое загрязнение, ухудшение микроклимата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69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2075729-E72A-16F5-C57B-978C09D67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4" y="653127"/>
            <a:ext cx="6784622" cy="55517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Цель</a:t>
            </a:r>
            <a:r>
              <a:rPr lang="ru-RU" sz="2400" dirty="0"/>
              <a:t>: привлечение внимание к выгодам от озеленения крыш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Задачи</a:t>
            </a:r>
            <a:r>
              <a:rPr lang="ru-RU" sz="2400" dirty="0"/>
              <a:t>:</a:t>
            </a:r>
          </a:p>
          <a:p>
            <a:pPr marL="800100" lvl="1" indent="-342900" algn="just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kern="100" dirty="0">
                <a:ea typeface="Calibri" panose="020F0502020204030204" pitchFamily="34" charset="0"/>
                <a:cs typeface="Calibri" panose="020F0502020204030204" pitchFamily="34" charset="0"/>
              </a:rPr>
              <a:t>изучить и</a:t>
            </a:r>
            <a:r>
              <a:rPr lang="ru-RU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нтернет-источники по данной теме</a:t>
            </a:r>
          </a:p>
          <a:p>
            <a:pPr marL="800100" lvl="1" indent="-342900" algn="just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kern="100" dirty="0"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ru-RU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ыбрать и закупить материалы для изготовления макета</a:t>
            </a:r>
          </a:p>
          <a:p>
            <a:pPr marL="800100" lvl="1" indent="-342900" algn="just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kern="100" dirty="0">
                <a:ea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ru-RU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оздать макет</a:t>
            </a:r>
            <a:endParaRPr lang="en-US" kern="1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ru-RU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написать обращение к правительству Москвы о поддержке создания парков на крышах</a:t>
            </a:r>
            <a:endParaRPr lang="en-US" kern="1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ru-RU" kern="1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B5F74B-C4EF-4CE4-89E9-4DE84672E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31631" y="0"/>
            <a:ext cx="47568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83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29191-581F-91F3-72BC-74641418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795" y="-1580"/>
            <a:ext cx="6252409" cy="1325563"/>
          </a:xfrm>
        </p:spPr>
        <p:txBody>
          <a:bodyPr/>
          <a:lstStyle/>
          <a:p>
            <a:pPr algn="ctr"/>
            <a:r>
              <a:rPr lang="ru-RU" sz="3200" b="1" dirty="0">
                <a:solidFill>
                  <a:schemeClr val="accent6">
                    <a:lumMod val="75000"/>
                  </a:schemeClr>
                </a:solidFill>
              </a:rPr>
              <a:t>Мировой опыт. Копенгаген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E739-E7D1-B27C-CA06-17AD55E8B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471" y="5809382"/>
            <a:ext cx="11936529" cy="821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2011 году была принята городская политика по озеленению плоских крыш в новых зданиях. К 2020 по этой программе стали зелеными 200000 м</a:t>
            </a:r>
            <a:r>
              <a:rPr lang="ru-RU" sz="2400" baseline="30000" dirty="0"/>
              <a:t>2</a:t>
            </a:r>
            <a:r>
              <a:rPr lang="ru-RU" sz="2400" dirty="0"/>
              <a:t> крыш</a:t>
            </a:r>
          </a:p>
          <a:p>
            <a:endParaRPr lang="ru-RU" sz="24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F01895A-D441-2CCD-DE16-DEBA4B3CA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450" y="1235074"/>
            <a:ext cx="11743098" cy="438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99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6" y="737296"/>
            <a:ext cx="7662960" cy="942814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Подбор растений для парка. Деревья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678DC796-DB55-DEFC-3998-7FA59F862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" y="2036641"/>
            <a:ext cx="7541455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Рябина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Арония черноплодная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Ива козья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Калина обыкновенная.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Яблоня ягодная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Кизил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Айва низкая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Тюльпанная магнолия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Можно использовать горные виды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758F80-7BD6-00B7-2D1A-1327CACD0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28448" y="0"/>
            <a:ext cx="476319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59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558" y="554417"/>
            <a:ext cx="7485185" cy="942814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Кустарники и травянистые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678DC796-DB55-DEFC-3998-7FA59F862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1484" y="2696394"/>
            <a:ext cx="7310516" cy="261675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Кустарники</a:t>
            </a:r>
            <a:r>
              <a:rPr lang="en-US" sz="2400" dirty="0"/>
              <a:t> (</a:t>
            </a:r>
            <a:r>
              <a:rPr lang="ru-RU" sz="2400" dirty="0"/>
              <a:t>почвопокровные розы</a:t>
            </a:r>
            <a:r>
              <a:rPr lang="en-US" sz="2400" dirty="0"/>
              <a:t>,</a:t>
            </a:r>
            <a:r>
              <a:rPr lang="ru-RU" sz="2400" dirty="0"/>
              <a:t> можжевельники, верески и эрики )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Вьющиеся</a:t>
            </a:r>
            <a:r>
              <a:rPr lang="en-US" sz="2400" dirty="0"/>
              <a:t> (к</a:t>
            </a:r>
            <a:r>
              <a:rPr lang="ru-RU" sz="2400" dirty="0" err="1"/>
              <a:t>лематис</a:t>
            </a:r>
            <a:r>
              <a:rPr lang="en-US" sz="2400" dirty="0"/>
              <a:t>, в</a:t>
            </a:r>
            <a:r>
              <a:rPr lang="ru-RU" sz="2400" dirty="0" err="1"/>
              <a:t>иноград</a:t>
            </a:r>
            <a:r>
              <a:rPr lang="en-US" sz="24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Цветы</a:t>
            </a:r>
            <a:r>
              <a:rPr lang="en-US" sz="2400" dirty="0"/>
              <a:t> (</a:t>
            </a:r>
            <a:r>
              <a:rPr lang="ru-RU" sz="2400" dirty="0"/>
              <a:t>тимьян ползучий, цветы, подходящие для альпийских горок)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Т</a:t>
            </a:r>
            <a:r>
              <a:rPr lang="en-US" sz="2400" dirty="0" err="1"/>
              <a:t>равы</a:t>
            </a:r>
            <a:r>
              <a:rPr lang="en-US" sz="2400" dirty="0"/>
              <a:t> (</a:t>
            </a:r>
            <a:r>
              <a:rPr lang="ru-RU" sz="2400" dirty="0"/>
              <a:t>очиток, мох и засухоустойчивые виды трав</a:t>
            </a:r>
            <a:r>
              <a:rPr lang="en-US" sz="2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492FB-1B54-36D2-0686-1C013BE32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/>
        </p:blipFill>
        <p:spPr bwMode="auto">
          <a:xfrm>
            <a:off x="0" y="0"/>
            <a:ext cx="476391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49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19" y="260806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Эскиз макета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9F50698-B4F6-01E4-8D66-348360070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5065" y="1240642"/>
            <a:ext cx="7921869" cy="5328138"/>
          </a:xfrm>
        </p:spPr>
      </p:pic>
    </p:spTree>
    <p:extLst>
      <p:ext uri="{BB962C8B-B14F-4D97-AF65-F5344CB8AC3E}">
        <p14:creationId xmlns:p14="http://schemas.microsoft.com/office/powerpoint/2010/main" val="228244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20" y="681037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Процесс создания макета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224523D-6239-337B-F163-5CCC61406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1680" y="1825625"/>
            <a:ext cx="3323762" cy="4351338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922DBF-539D-BAC2-5571-9A768B95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1335" y="1827389"/>
            <a:ext cx="6574041" cy="43478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2EC3AE-256A-9EA7-7FD0-96978964135B}"/>
              </a:ext>
            </a:extLst>
          </p:cNvPr>
          <p:cNvSpPr txBox="1"/>
          <p:nvPr/>
        </p:nvSpPr>
        <p:spPr>
          <a:xfrm>
            <a:off x="1170091" y="6194071"/>
            <a:ext cx="286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Нанесение газона на макет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89D8B-E930-597C-2241-E852A92A8DC0}"/>
              </a:ext>
            </a:extLst>
          </p:cNvPr>
          <p:cNvSpPr txBox="1"/>
          <p:nvPr/>
        </p:nvSpPr>
        <p:spPr>
          <a:xfrm>
            <a:off x="6586482" y="6194071"/>
            <a:ext cx="314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Вклейка пластиковых деталей</a:t>
            </a:r>
          </a:p>
        </p:txBody>
      </p:sp>
    </p:spTree>
    <p:extLst>
      <p:ext uri="{BB962C8B-B14F-4D97-AF65-F5344CB8AC3E}">
        <p14:creationId xmlns:p14="http://schemas.microsoft.com/office/powerpoint/2010/main" val="358358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20" y="681037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Процесс создания макета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224523D-6239-337B-F163-5CCC61406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" r="8"/>
          <a:stretch/>
        </p:blipFill>
        <p:spPr>
          <a:xfrm>
            <a:off x="1478009" y="1755287"/>
            <a:ext cx="4187251" cy="4351338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922DBF-539D-BAC2-5571-9A768B95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2111" y="1755287"/>
            <a:ext cx="4185151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2EC3AE-256A-9EA7-7FD0-96978964135B}"/>
              </a:ext>
            </a:extLst>
          </p:cNvPr>
          <p:cNvSpPr txBox="1"/>
          <p:nvPr/>
        </p:nvSpPr>
        <p:spPr>
          <a:xfrm>
            <a:off x="2125917" y="6106625"/>
            <a:ext cx="289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выхода на крышу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89D8B-E930-597C-2241-E852A92A8DC0}"/>
              </a:ext>
            </a:extLst>
          </p:cNvPr>
          <p:cNvSpPr txBox="1"/>
          <p:nvPr/>
        </p:nvSpPr>
        <p:spPr>
          <a:xfrm>
            <a:off x="7669886" y="6110911"/>
            <a:ext cx="204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дорожек</a:t>
            </a:r>
          </a:p>
        </p:txBody>
      </p:sp>
    </p:spTree>
    <p:extLst>
      <p:ext uri="{BB962C8B-B14F-4D97-AF65-F5344CB8AC3E}">
        <p14:creationId xmlns:p14="http://schemas.microsoft.com/office/powerpoint/2010/main" val="339978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20" y="681037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Макет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BEA441-3FF6-B9BF-5957-FA7210B61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026" y="942814"/>
            <a:ext cx="5047948" cy="5647988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BEBD3D0-5D32-D07E-0C87-462058039F10}"/>
              </a:ext>
            </a:extLst>
          </p:cNvPr>
          <p:cNvSpPr txBox="1">
            <a:spLocks/>
          </p:cNvSpPr>
          <p:nvPr/>
        </p:nvSpPr>
        <p:spPr>
          <a:xfrm>
            <a:off x="2264520" y="0"/>
            <a:ext cx="7662960" cy="942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>
                <a:solidFill>
                  <a:schemeClr val="accent6">
                    <a:lumMod val="75000"/>
                  </a:schemeClr>
                </a:solidFill>
              </a:rPr>
              <a:t>Макет</a:t>
            </a:r>
            <a:endParaRPr lang="ru-RU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6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20" y="98586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Обращение к правительству Москвы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3622D2-CF51-2D39-46CA-E1559509C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6034" y="1041474"/>
            <a:ext cx="9019931" cy="54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3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04FD2-55DC-B5B6-3432-D29B8180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20" y="98586"/>
            <a:ext cx="7662960" cy="9428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650B2-FA7A-F6D0-7DC0-9F5AFF77706E}"/>
              </a:ext>
            </a:extLst>
          </p:cNvPr>
          <p:cNvSpPr txBox="1"/>
          <p:nvPr/>
        </p:nvSpPr>
        <p:spPr>
          <a:xfrm>
            <a:off x="570034" y="1041400"/>
            <a:ext cx="1105193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effectLst/>
              </a:rPr>
              <a:t>В ходе проекта подтверждена актуальность нехватки зелени в городе: исследование показало, что парки на крышах снижают эффект «теплового острова» и очищают воздух. Изготовлен макет и выполнен расчёт, доказавший, что озеленение способно более чем вдвое увеличить зелёные зоны квартала. Итогом стало обращение в правительство Москвы для поддержки инициативы.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734D30-7FC1-F95C-73A1-808CF9B3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36" y="3332285"/>
            <a:ext cx="12175130" cy="352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593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375623"/>
      </a:dk1>
      <a:lt1>
        <a:srgbClr val="375623"/>
      </a:lt1>
      <a:dk2>
        <a:srgbClr val="375623"/>
      </a:dk2>
      <a:lt2>
        <a:srgbClr val="37562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</TotalTime>
  <Words>543</Words>
  <Application>Microsoft Office PowerPoint</Application>
  <PresentationFormat>Широкоэкранный</PresentationFormat>
  <Paragraphs>60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Парк на крыше каждого многоэтажного здания </vt:lpstr>
      <vt:lpstr>Актуальность</vt:lpstr>
      <vt:lpstr>Презентация PowerPoint</vt:lpstr>
      <vt:lpstr>Мировой опыт. Копенгаген</vt:lpstr>
      <vt:lpstr>Подбор растений для парка. Деревья</vt:lpstr>
      <vt:lpstr>Кустарники и травянистые</vt:lpstr>
      <vt:lpstr>Эскиз макета</vt:lpstr>
      <vt:lpstr>Процесс создания макета</vt:lpstr>
      <vt:lpstr>Процесс создания макета</vt:lpstr>
      <vt:lpstr>Макет</vt:lpstr>
      <vt:lpstr>Обращение к правительству Москвы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Парк на крыше каждого многоэтажного здания</dc:title>
  <dc:creator>Akulina</dc:creator>
  <cp:lastModifiedBy>Akulina</cp:lastModifiedBy>
  <cp:revision>62</cp:revision>
  <dcterms:created xsi:type="dcterms:W3CDTF">2025-11-23T16:36:42Z</dcterms:created>
  <dcterms:modified xsi:type="dcterms:W3CDTF">2026-02-20T11:45:32Z</dcterms:modified>
</cp:coreProperties>
</file>